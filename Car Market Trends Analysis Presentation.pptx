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39" r:id="rId10"/>
    <p:sldId id="340" r:id="rId11"/>
    <p:sldId id="34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5" d="100"/>
          <a:sy n="75" d="100"/>
        </p:scale>
        <p:origin x="1018" y="21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0"/>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8/31/2026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8/31/2026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8/31/2026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8/31/2026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8/31/2026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hoaib05504/Car-Market-Trends-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Shoaib05504/Car-Market-Trends-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hoaib05504/Car-Market-Trends-Analysi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hoaib05504/Car-Market-Trends-Analysis"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pPr algn="r"/>
            <a:r>
              <a:rPr lang="en-US" b="0" dirty="0">
                <a:solidFill>
                  <a:schemeClr val="tx1"/>
                </a:solidFill>
              </a:rPr>
              <a:t>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041717" y="379497"/>
            <a:ext cx="4998720" cy="743448"/>
          </a:xfrm>
        </p:spPr>
        <p:txBody>
          <a:bodyPr>
            <a:normAutofit/>
          </a:bodyPr>
          <a:lstStyle/>
          <a:p>
            <a:r>
              <a:rPr lang="en-GB" sz="3200" b="1" dirty="0">
                <a:latin typeface="Times New Roman" panose="02020603050405020304" pitchFamily="18" charset="0"/>
                <a:cs typeface="Times New Roman" panose="02020603050405020304" pitchFamily="18" charset="0"/>
              </a:rPr>
              <a:t>Project Title </a:t>
            </a:r>
            <a:r>
              <a:rPr lang="en-GB" sz="3200" dirty="0"/>
              <a: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Box 6">
            <a:extLst>
              <a:ext uri="{FF2B5EF4-FFF2-40B4-BE49-F238E27FC236}">
                <a16:creationId xmlns:a16="http://schemas.microsoft.com/office/drawing/2014/main" id="{981D3706-105B-F6D7-7920-CCBA47F3AE41}"/>
              </a:ext>
            </a:extLst>
          </p:cNvPr>
          <p:cNvSpPr txBox="1"/>
          <p:nvPr/>
        </p:nvSpPr>
        <p:spPr>
          <a:xfrm>
            <a:off x="3541076" y="412088"/>
            <a:ext cx="7279323" cy="95410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Car Market Trends Analysis with Car</a:t>
            </a:r>
          </a:p>
          <a:p>
            <a:r>
              <a:rPr lang="en-IN" sz="2800" b="1" dirty="0">
                <a:latin typeface="Times New Roman" panose="02020603050405020304" pitchFamily="18" charset="0"/>
                <a:cs typeface="Times New Roman" panose="02020603050405020304" pitchFamily="18" charset="0"/>
              </a:rPr>
              <a:t>                        Dekho Data</a:t>
            </a:r>
            <a:endParaRPr lang="en-IN" sz="2800" b="1" dirty="0"/>
          </a:p>
        </p:txBody>
      </p:sp>
      <p:sp>
        <p:nvSpPr>
          <p:cNvPr id="9" name="TextBox 8">
            <a:extLst>
              <a:ext uri="{FF2B5EF4-FFF2-40B4-BE49-F238E27FC236}">
                <a16:creationId xmlns:a16="http://schemas.microsoft.com/office/drawing/2014/main" id="{F4D9D054-9ADB-69D9-06E0-D2B5F8486238}"/>
              </a:ext>
            </a:extLst>
          </p:cNvPr>
          <p:cNvSpPr txBox="1"/>
          <p:nvPr/>
        </p:nvSpPr>
        <p:spPr>
          <a:xfrm>
            <a:off x="675957" y="2963139"/>
            <a:ext cx="379984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Name</a:t>
            </a:r>
            <a:r>
              <a:rPr lang="en-US" sz="2800" dirty="0">
                <a:latin typeface="Times New Roman" panose="02020603050405020304" pitchFamily="18" charset="0"/>
                <a:cs typeface="Times New Roman" panose="02020603050405020304" pitchFamily="18" charset="0"/>
              </a:rPr>
              <a:t> - SHOAIB SW</a:t>
            </a:r>
            <a:endParaRPr lang="en-IN" sz="2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03E43A3-1718-DC83-563E-8053B3836F80}"/>
              </a:ext>
            </a:extLst>
          </p:cNvPr>
          <p:cNvSpPr txBox="1"/>
          <p:nvPr/>
        </p:nvSpPr>
        <p:spPr>
          <a:xfrm>
            <a:off x="567199" y="3618640"/>
            <a:ext cx="9884950" cy="954107"/>
          </a:xfrm>
          <a:prstGeom prst="rect">
            <a:avLst/>
          </a:prstGeom>
          <a:noFill/>
        </p:spPr>
        <p:txBody>
          <a:bodyPr wrap="none" rtlCol="0">
            <a:spAutoFit/>
          </a:bodyPr>
          <a:lstStyle/>
          <a:p>
            <a:pPr algn="ctr"/>
            <a:r>
              <a:rPr lang="en-US" sz="2800" b="1" dirty="0">
                <a:latin typeface="Times New Roman" panose="02020603050405020304" pitchFamily="18" charset="0"/>
                <a:cs typeface="Times New Roman" panose="02020603050405020304" pitchFamily="18" charset="0"/>
              </a:rPr>
              <a:t>College Name </a:t>
            </a:r>
            <a:r>
              <a:rPr lang="en-US" sz="2800" dirty="0">
                <a:latin typeface="Times New Roman" panose="02020603050405020304" pitchFamily="18" charset="0"/>
                <a:cs typeface="Times New Roman" panose="02020603050405020304" pitchFamily="18" charset="0"/>
              </a:rPr>
              <a:t>- East Point College of Engineering and Technology</a:t>
            </a:r>
          </a:p>
          <a:p>
            <a:pPr algn="ctr"/>
            <a:r>
              <a:rPr lang="en-US" sz="2800" dirty="0">
                <a:latin typeface="Times New Roman" panose="02020603050405020304" pitchFamily="18" charset="0"/>
                <a:cs typeface="Times New Roman" panose="02020603050405020304" pitchFamily="18" charset="0"/>
              </a:rPr>
              <a:t>                     Bengaluru, Karnataka</a:t>
            </a:r>
            <a:endParaRPr lang="en-IN" sz="28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128273D-A639-9751-3EA4-62B893E5A03C}"/>
              </a:ext>
            </a:extLst>
          </p:cNvPr>
          <p:cNvSpPr txBox="1"/>
          <p:nvPr/>
        </p:nvSpPr>
        <p:spPr>
          <a:xfrm>
            <a:off x="4821237" y="5259164"/>
            <a:ext cx="704551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AICTE Student ID </a:t>
            </a:r>
            <a:r>
              <a:rPr lang="en-US" sz="2400" dirty="0">
                <a:latin typeface="Times New Roman" panose="02020603050405020304" pitchFamily="18" charset="0"/>
                <a:cs typeface="Times New Roman" panose="02020603050405020304" pitchFamily="18" charset="0"/>
              </a:rPr>
              <a:t>– STU68fa545b391751761236059</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82156" y="2127379"/>
            <a:ext cx="7513528" cy="3694923"/>
          </a:xfrm>
        </p:spPr>
        <p:txBody>
          <a:bodyPr>
            <a:normAutofit/>
          </a:bodyPr>
          <a:lstStyle/>
          <a:p>
            <a:pPr algn="just">
              <a:lnSpc>
                <a:spcPct val="160000"/>
              </a:lnSpc>
            </a:pPr>
            <a:r>
              <a:rPr lang="en-IN" sz="1800" dirty="0">
                <a:latin typeface="Times New Roman" panose="02020603050405020304" pitchFamily="18" charset="0"/>
                <a:cs typeface="Times New Roman" panose="02020603050405020304" pitchFamily="18" charset="0"/>
              </a:rPr>
              <a:t>The used car market involves multiple factors such as selling price, present price, vehicle age, kilometres driven, fuel type, seller type, transmission, and ownership. Without systematic data analysis, it can be difficult to identify meaningful market trends, understand price variations, and determine which factors are associated with car selling prices.</a:t>
            </a:r>
          </a:p>
          <a:p>
            <a:pPr algn="just">
              <a:lnSpc>
                <a:spcPct val="160000"/>
              </a:lnSpc>
            </a:pPr>
            <a:r>
              <a:rPr lang="en-IN" sz="1800" dirty="0">
                <a:latin typeface="Times New Roman" panose="02020603050405020304" pitchFamily="18" charset="0"/>
                <a:cs typeface="Times New Roman" panose="02020603050405020304" pitchFamily="18" charset="0"/>
              </a:rPr>
              <a:t>This project addresses this problem by analysing the Car Dekho dataset using Python to identify patterns, trends, and relationships in the used-car market.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874851"/>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67093" y="46372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3F9E466B-EC63-9203-05B6-7F5413BB6653}"/>
              </a:ext>
            </a:extLst>
          </p:cNvPr>
          <p:cNvSpPr txBox="1"/>
          <p:nvPr/>
        </p:nvSpPr>
        <p:spPr>
          <a:xfrm>
            <a:off x="467359" y="1413946"/>
            <a:ext cx="9987281" cy="5028556"/>
          </a:xfrm>
          <a:prstGeom prst="rect">
            <a:avLst/>
          </a:prstGeom>
          <a:noFill/>
        </p:spPr>
        <p:txBody>
          <a:bodyPr wrap="square" rtlCol="0">
            <a:spAutoFit/>
          </a:bodyPr>
          <a:lstStyle/>
          <a:p>
            <a:pPr marL="342900" lvl="0" indent="-342900" algn="just">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Car Market Trends Analysis is a data analytics project based on the Car Dekho used-car dataset. The project uses Python to load, clean, transform, and analyze the data to identify important patterns and trends in the used-car market. </a:t>
            </a:r>
          </a:p>
          <a:p>
            <a:pPr marL="342900" indent="-342900" algn="just">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Pandas is used for data manipulation and analysis, while NumPy is used for numerical calculations such as mean, median, minimum, maximum, and correlation. </a:t>
            </a:r>
          </a:p>
          <a:p>
            <a:pPr marL="342900" indent="-342900" algn="just">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A new Car Age feature is created from the manufacturing year to support further analysis. The project examines selling price, present price, kilometers driven, fuel type, seller type, transmission, ownership, and car models. </a:t>
            </a:r>
          </a:p>
          <a:p>
            <a:pPr marL="342900" indent="-342900" algn="just">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Matplotlib is used to create bar charts, pie charts, line charts, scatter plots, histograms, box plots, and a correlation heatmap to identify price patterns, distributions, relationships, and Market trends. </a:t>
            </a:r>
          </a:p>
          <a:p>
            <a:pPr marL="342900" indent="-342900" algn="just">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The analysis converts raw car data into meaningful insights about car pricing and used-</a:t>
            </a:r>
          </a:p>
          <a:p>
            <a:pPr algn="just">
              <a:lnSpc>
                <a:spcPct val="150000"/>
              </a:lnSpc>
              <a:buClr>
                <a:srgbClr val="00B050"/>
              </a:buClr>
            </a:pPr>
            <a:r>
              <a:rPr lang="en-IN" dirty="0">
                <a:latin typeface="Times New Roman" panose="02020603050405020304" pitchFamily="18" charset="0"/>
                <a:cs typeface="Times New Roman" panose="02020603050405020304" pitchFamily="18" charset="0"/>
              </a:rPr>
              <a:t>      car market behavior.</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86781"/>
            <a:ext cx="7904481" cy="3990023"/>
          </a:xfrm>
        </p:spPr>
        <p:txBody>
          <a:bodyPr>
            <a:normAutofit/>
          </a:bodyPr>
          <a:lstStyle/>
          <a:p>
            <a:pPr lvl="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Car Buyers</a:t>
            </a:r>
            <a:r>
              <a:rPr lang="en-IN" sz="1800" dirty="0">
                <a:latin typeface="Times New Roman" panose="02020603050405020304" pitchFamily="18" charset="0"/>
                <a:cs typeface="Times New Roman" panose="02020603050405020304" pitchFamily="18" charset="0"/>
              </a:rPr>
              <a:t> – To understand car prices and compare vehicle options. </a:t>
            </a:r>
          </a:p>
          <a:p>
            <a:pPr lvl="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Car Sellers</a:t>
            </a:r>
            <a:r>
              <a:rPr lang="en-IN" sz="1800" dirty="0">
                <a:latin typeface="Times New Roman" panose="02020603050405020304" pitchFamily="18" charset="0"/>
                <a:cs typeface="Times New Roman" panose="02020603050405020304" pitchFamily="18" charset="0"/>
              </a:rPr>
              <a:t> – To understand resale values and market trends. </a:t>
            </a:r>
          </a:p>
          <a:p>
            <a:pPr lvl="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Automobile Dealers</a:t>
            </a:r>
            <a:r>
              <a:rPr lang="en-IN" sz="1800" dirty="0">
                <a:latin typeface="Times New Roman" panose="02020603050405020304" pitchFamily="18" charset="0"/>
                <a:cs typeface="Times New Roman" panose="02020603050405020304" pitchFamily="18" charset="0"/>
              </a:rPr>
              <a:t> – To support pricing and inventory-related decisions. </a:t>
            </a:r>
          </a:p>
          <a:p>
            <a:pPr lvl="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Market Analysts</a:t>
            </a:r>
            <a:r>
              <a:rPr lang="en-IN" sz="1800" dirty="0">
                <a:latin typeface="Times New Roman" panose="02020603050405020304" pitchFamily="18" charset="0"/>
                <a:cs typeface="Times New Roman" panose="02020603050405020304" pitchFamily="18" charset="0"/>
              </a:rPr>
              <a:t> – To analyze used-car market patterns and trends. </a:t>
            </a:r>
          </a:p>
          <a:p>
            <a:pPr lvl="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 Analysts &amp; Students</a:t>
            </a:r>
            <a:r>
              <a:rPr lang="en-IN" sz="1800" dirty="0">
                <a:latin typeface="Times New Roman" panose="02020603050405020304" pitchFamily="18" charset="0"/>
                <a:cs typeface="Times New Roman" panose="02020603050405020304" pitchFamily="18" charset="0"/>
              </a:rPr>
              <a:t> – To study real-world data analysis and visualization.</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11863"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83566" y="1651518"/>
            <a:ext cx="8238932" cy="5024490"/>
          </a:xfrm>
        </p:spPr>
        <p:txBody>
          <a:bodyPr/>
          <a:lstStyle/>
          <a:p>
            <a:pPr lvl="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Python</a:t>
            </a:r>
            <a:r>
              <a:rPr lang="en-IN" sz="1800" dirty="0">
                <a:latin typeface="Times New Roman" panose="02020603050405020304" pitchFamily="18" charset="0"/>
                <a:cs typeface="Times New Roman" panose="02020603050405020304" pitchFamily="18" charset="0"/>
              </a:rPr>
              <a:t> – Used as the primary programming language for the project. </a:t>
            </a:r>
          </a:p>
          <a:p>
            <a:pPr lvl="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Pandas</a:t>
            </a:r>
            <a:r>
              <a:rPr lang="en-IN" sz="1800" dirty="0">
                <a:latin typeface="Times New Roman" panose="02020603050405020304" pitchFamily="18" charset="0"/>
                <a:cs typeface="Times New Roman" panose="02020603050405020304" pitchFamily="18" charset="0"/>
              </a:rPr>
              <a:t> – Used for loading, cleaning, transforming, grouping, and analyzing the dataset. </a:t>
            </a:r>
          </a:p>
          <a:p>
            <a:pPr lvl="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 Used for numerical calculations such as mean, median, minimum, maximum, and correlation. </a:t>
            </a:r>
          </a:p>
          <a:p>
            <a:pPr lvl="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Matplotlib</a:t>
            </a:r>
            <a:r>
              <a:rPr lang="en-IN" sz="1800" dirty="0">
                <a:latin typeface="Times New Roman" panose="02020603050405020304" pitchFamily="18" charset="0"/>
                <a:cs typeface="Times New Roman" panose="02020603050405020304" pitchFamily="18" charset="0"/>
              </a:rPr>
              <a:t> – Used to create different data visualizations and charts. </a:t>
            </a:r>
          </a:p>
          <a:p>
            <a:pPr lvl="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Google Colab</a:t>
            </a:r>
            <a:r>
              <a:rPr lang="en-IN" sz="1800" dirty="0">
                <a:latin typeface="Times New Roman" panose="02020603050405020304" pitchFamily="18" charset="0"/>
                <a:cs typeface="Times New Roman" panose="02020603050405020304" pitchFamily="18" charset="0"/>
              </a:rPr>
              <a:t> – Used as the development environment for writing and executing Python code. </a:t>
            </a:r>
          </a:p>
          <a:p>
            <a:pPr lvl="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Google Drive</a:t>
            </a:r>
            <a:r>
              <a:rPr lang="en-IN" sz="1800" dirty="0">
                <a:latin typeface="Times New Roman" panose="02020603050405020304" pitchFamily="18" charset="0"/>
                <a:cs typeface="Times New Roman" panose="02020603050405020304" pitchFamily="18" charset="0"/>
              </a:rPr>
              <a:t> – Used to store the dataset permanently.</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314039" y="5973134"/>
            <a:ext cx="2143125" cy="705059"/>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587873" y="289560"/>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14039"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94997" y="6076192"/>
            <a:ext cx="2981643" cy="705059"/>
          </a:xfrm>
          <a:prstGeom prst="rect">
            <a:avLst/>
          </a:prstGeom>
        </p:spPr>
        <p:txBody>
          <a:bodyPr vert="horz" lIns="91440" tIns="45720" rIns="91440" bIns="45720" rtlCol="0" anchor="t">
            <a:normAutofit fontScale="92500" lnSpcReduction="1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200" b="0" u="sng" dirty="0">
                <a:solidFill>
                  <a:schemeClr val="accent2"/>
                </a:solidFill>
                <a:hlinkClick r:id="rId3">
                  <a:extLst>
                    <a:ext uri="{A12FA001-AC4F-418D-AE19-62706E023703}">
                      <ahyp:hlinkClr xmlns:ahyp="http://schemas.microsoft.com/office/drawing/2018/hyperlinkcolor" val="tx"/>
                    </a:ext>
                  </a:extLst>
                </a:hlinkClick>
              </a:rPr>
              <a:t>GitHub Repository</a:t>
            </a:r>
            <a:endParaRPr lang="en-IN" sz="2200" b="0" u="sng" dirty="0">
              <a:solidFill>
                <a:schemeClr val="accent2"/>
              </a:solidFill>
            </a:endParaRPr>
          </a:p>
        </p:txBody>
      </p:sp>
      <p:sp>
        <p:nvSpPr>
          <p:cNvPr id="3" name="Text Placeholder 2">
            <a:extLst>
              <a:ext uri="{FF2B5EF4-FFF2-40B4-BE49-F238E27FC236}">
                <a16:creationId xmlns:a16="http://schemas.microsoft.com/office/drawing/2014/main" id="{D1C8F7BE-58B8-90E1-D185-DE7D66438091}"/>
              </a:ext>
            </a:extLst>
          </p:cNvPr>
          <p:cNvSpPr>
            <a:spLocks noGrp="1"/>
          </p:cNvSpPr>
          <p:nvPr>
            <p:ph type="body" sz="quarter" idx="12"/>
          </p:nvPr>
        </p:nvSpPr>
        <p:spPr>
          <a:xfrm rot="807365">
            <a:off x="2015590" y="793342"/>
            <a:ext cx="126210" cy="229581"/>
          </a:xfrm>
        </p:spPr>
        <p:txBody>
          <a:bodyPr>
            <a:normAutofit fontScale="55000" lnSpcReduction="20000"/>
          </a:bodyPr>
          <a:lstStyle/>
          <a:p>
            <a:pPr marL="0" indent="0">
              <a:buNone/>
            </a:pPr>
            <a:r>
              <a:rPr lang="en-US" dirty="0"/>
              <a:t>u</a:t>
            </a:r>
            <a:endParaRPr lang="en-IN" dirty="0"/>
          </a:p>
        </p:txBody>
      </p:sp>
      <p:pic>
        <p:nvPicPr>
          <p:cNvPr id="11" name="Picture 10">
            <a:extLst>
              <a:ext uri="{FF2B5EF4-FFF2-40B4-BE49-F238E27FC236}">
                <a16:creationId xmlns:a16="http://schemas.microsoft.com/office/drawing/2014/main" id="{879F486A-077D-9DFB-E5B7-E192562C01B8}"/>
              </a:ext>
            </a:extLst>
          </p:cNvPr>
          <p:cNvPicPr>
            <a:picLocks noChangeAspect="1"/>
          </p:cNvPicPr>
          <p:nvPr/>
        </p:nvPicPr>
        <p:blipFill>
          <a:blip r:embed="rId4"/>
          <a:srcRect r="35924"/>
          <a:stretch>
            <a:fillRect/>
          </a:stretch>
        </p:blipFill>
        <p:spPr>
          <a:xfrm>
            <a:off x="314040" y="1275371"/>
            <a:ext cx="5693222" cy="4877570"/>
          </a:xfrm>
          <a:prstGeom prst="rect">
            <a:avLst/>
          </a:prstGeom>
        </p:spPr>
      </p:pic>
      <p:pic>
        <p:nvPicPr>
          <p:cNvPr id="13" name="Picture 12">
            <a:extLst>
              <a:ext uri="{FF2B5EF4-FFF2-40B4-BE49-F238E27FC236}">
                <a16:creationId xmlns:a16="http://schemas.microsoft.com/office/drawing/2014/main" id="{BDECAA5C-79C7-0237-8338-3C1FD475FF03}"/>
              </a:ext>
            </a:extLst>
          </p:cNvPr>
          <p:cNvPicPr>
            <a:picLocks noChangeAspect="1"/>
          </p:cNvPicPr>
          <p:nvPr/>
        </p:nvPicPr>
        <p:blipFill>
          <a:blip r:embed="rId5"/>
          <a:srcRect l="-61" r="35833"/>
          <a:stretch>
            <a:fillRect/>
          </a:stretch>
        </p:blipFill>
        <p:spPr>
          <a:xfrm>
            <a:off x="6281195" y="1275371"/>
            <a:ext cx="5693222" cy="487756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B3A5F-5642-ECAB-ABA2-E2E5474120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A9AE3B-BEBF-07F3-C6FC-18345151FDAC}"/>
              </a:ext>
            </a:extLst>
          </p:cNvPr>
          <p:cNvPicPr>
            <a:picLocks noChangeAspect="1"/>
          </p:cNvPicPr>
          <p:nvPr/>
        </p:nvPicPr>
        <p:blipFill rotWithShape="1">
          <a:blip r:embed="rId2"/>
          <a:srcRect t="96181"/>
          <a:stretch/>
        </p:blipFill>
        <p:spPr>
          <a:xfrm>
            <a:off x="675955" y="6520581"/>
            <a:ext cx="2143125" cy="193040"/>
          </a:xfrm>
          <a:prstGeom prst="rect">
            <a:avLst/>
          </a:prstGeom>
        </p:spPr>
      </p:pic>
      <p:sp>
        <p:nvSpPr>
          <p:cNvPr id="4" name="Title 3">
            <a:extLst>
              <a:ext uri="{FF2B5EF4-FFF2-40B4-BE49-F238E27FC236}">
                <a16:creationId xmlns:a16="http://schemas.microsoft.com/office/drawing/2014/main" id="{17D0857F-66D7-F577-7E6C-66B24D6E9DF6}"/>
              </a:ext>
            </a:extLst>
          </p:cNvPr>
          <p:cNvSpPr>
            <a:spLocks noGrp="1"/>
          </p:cNvSpPr>
          <p:nvPr>
            <p:ph type="title"/>
          </p:nvPr>
        </p:nvSpPr>
        <p:spPr>
          <a:xfrm>
            <a:off x="256697" y="240899"/>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277B91E6-AFB3-8B5D-97E4-59B89923554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D273393-58AD-0BB0-EF55-90879CB1D64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1537F56-4A64-58EF-88FD-EC4279183A8D}"/>
              </a:ext>
            </a:extLst>
          </p:cNvPr>
          <p:cNvSpPr txBox="1">
            <a:spLocks/>
          </p:cNvSpPr>
          <p:nvPr/>
        </p:nvSpPr>
        <p:spPr>
          <a:xfrm>
            <a:off x="320982" y="5994384"/>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chemeClr val="accent2"/>
                </a:solidFill>
                <a:hlinkClick r:id="rId3">
                  <a:extLst>
                    <a:ext uri="{A12FA001-AC4F-418D-AE19-62706E023703}">
                      <ahyp:hlinkClr xmlns:ahyp="http://schemas.microsoft.com/office/drawing/2018/hyperlinkcolor" val="tx"/>
                    </a:ext>
                  </a:extLst>
                </a:hlinkClick>
              </a:rPr>
              <a:t>GitHub Repository</a:t>
            </a:r>
            <a:endParaRPr lang="en-IN" b="0" u="sng" dirty="0">
              <a:solidFill>
                <a:schemeClr val="accent2"/>
              </a:solidFill>
            </a:endParaRPr>
          </a:p>
        </p:txBody>
      </p:sp>
      <p:sp>
        <p:nvSpPr>
          <p:cNvPr id="10" name="Text Placeholder 1">
            <a:extLst>
              <a:ext uri="{FF2B5EF4-FFF2-40B4-BE49-F238E27FC236}">
                <a16:creationId xmlns:a16="http://schemas.microsoft.com/office/drawing/2014/main" id="{13D0AF6B-CA8D-6F8D-BCB9-7B62BBFE74BC}"/>
              </a:ext>
            </a:extLst>
          </p:cNvPr>
          <p:cNvSpPr>
            <a:spLocks noGrp="1"/>
          </p:cNvSpPr>
          <p:nvPr>
            <p:ph type="body" sz="quarter" idx="12"/>
          </p:nvPr>
        </p:nvSpPr>
        <p:spPr>
          <a:xfrm>
            <a:off x="795589" y="486093"/>
            <a:ext cx="176684" cy="281360"/>
          </a:xfrm>
        </p:spPr>
        <p:txBody>
          <a:bodyPr>
            <a:normAutofit fontScale="70000" lnSpcReduction="20000"/>
          </a:bodyPr>
          <a:lstStyle/>
          <a:p>
            <a:pPr marL="0" indent="0">
              <a:buNone/>
            </a:pPr>
            <a:r>
              <a:rPr lang="en-US" dirty="0"/>
              <a:t>u</a:t>
            </a:r>
            <a:endParaRPr lang="en-IN" dirty="0"/>
          </a:p>
        </p:txBody>
      </p:sp>
      <p:pic>
        <p:nvPicPr>
          <p:cNvPr id="11" name="Picture 10">
            <a:extLst>
              <a:ext uri="{FF2B5EF4-FFF2-40B4-BE49-F238E27FC236}">
                <a16:creationId xmlns:a16="http://schemas.microsoft.com/office/drawing/2014/main" id="{F7D4A1A6-898B-79C8-9BE0-09A2D6C67DE1}"/>
              </a:ext>
            </a:extLst>
          </p:cNvPr>
          <p:cNvPicPr>
            <a:picLocks noChangeAspect="1"/>
          </p:cNvPicPr>
          <p:nvPr/>
        </p:nvPicPr>
        <p:blipFill>
          <a:blip r:embed="rId4"/>
          <a:srcRect l="-1" r="38982"/>
          <a:stretch>
            <a:fillRect/>
          </a:stretch>
        </p:blipFill>
        <p:spPr>
          <a:xfrm>
            <a:off x="320982" y="1275371"/>
            <a:ext cx="5609115" cy="4907666"/>
          </a:xfrm>
          <a:prstGeom prst="rect">
            <a:avLst/>
          </a:prstGeom>
        </p:spPr>
      </p:pic>
      <p:pic>
        <p:nvPicPr>
          <p:cNvPr id="13" name="Picture 12">
            <a:extLst>
              <a:ext uri="{FF2B5EF4-FFF2-40B4-BE49-F238E27FC236}">
                <a16:creationId xmlns:a16="http://schemas.microsoft.com/office/drawing/2014/main" id="{4D8BA1E0-6D1B-82B2-DC3E-219C6A3008AD}"/>
              </a:ext>
            </a:extLst>
          </p:cNvPr>
          <p:cNvPicPr>
            <a:picLocks noChangeAspect="1"/>
          </p:cNvPicPr>
          <p:nvPr/>
        </p:nvPicPr>
        <p:blipFill>
          <a:blip r:embed="rId5"/>
          <a:srcRect r="27525"/>
          <a:stretch>
            <a:fillRect/>
          </a:stretch>
        </p:blipFill>
        <p:spPr>
          <a:xfrm>
            <a:off x="6144691" y="1275371"/>
            <a:ext cx="5726327" cy="4907665"/>
          </a:xfrm>
          <a:prstGeom prst="rect">
            <a:avLst/>
          </a:prstGeom>
        </p:spPr>
      </p:pic>
    </p:spTree>
    <p:extLst>
      <p:ext uri="{BB962C8B-B14F-4D97-AF65-F5344CB8AC3E}">
        <p14:creationId xmlns:p14="http://schemas.microsoft.com/office/powerpoint/2010/main" val="4064509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64D91-93A1-0B24-4C6C-4B56E07A288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5BE611D-F8DC-A38A-BC7F-EAE9AE87F275}"/>
              </a:ext>
            </a:extLst>
          </p:cNvPr>
          <p:cNvPicPr>
            <a:picLocks noChangeAspect="1"/>
          </p:cNvPicPr>
          <p:nvPr/>
        </p:nvPicPr>
        <p:blipFill rotWithShape="1">
          <a:blip r:embed="rId2"/>
          <a:srcRect t="96181"/>
          <a:stretch/>
        </p:blipFill>
        <p:spPr>
          <a:xfrm>
            <a:off x="314039" y="5973134"/>
            <a:ext cx="2143125" cy="705059"/>
          </a:xfrm>
          <a:prstGeom prst="rect">
            <a:avLst/>
          </a:prstGeom>
        </p:spPr>
      </p:pic>
      <p:sp>
        <p:nvSpPr>
          <p:cNvPr id="4" name="Title 3">
            <a:extLst>
              <a:ext uri="{FF2B5EF4-FFF2-40B4-BE49-F238E27FC236}">
                <a16:creationId xmlns:a16="http://schemas.microsoft.com/office/drawing/2014/main" id="{3DAFA54D-8DD8-B668-BB69-DCF8C1DE8E1B}"/>
              </a:ext>
            </a:extLst>
          </p:cNvPr>
          <p:cNvSpPr>
            <a:spLocks noGrp="1"/>
          </p:cNvSpPr>
          <p:nvPr>
            <p:ph type="title"/>
          </p:nvPr>
        </p:nvSpPr>
        <p:spPr>
          <a:xfrm>
            <a:off x="587873" y="289560"/>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824FAA05-368B-CAD8-3004-73B0A87B93E6}"/>
              </a:ext>
            </a:extLst>
          </p:cNvPr>
          <p:cNvSpPr txBox="1">
            <a:spLocks/>
          </p:cNvSpPr>
          <p:nvPr/>
        </p:nvSpPr>
        <p:spPr>
          <a:xfrm>
            <a:off x="314039"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2F38D97-9C5B-1B57-2BEC-32528926EFF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4E47E90-2182-8E95-5001-CBC9A2A27212}"/>
              </a:ext>
            </a:extLst>
          </p:cNvPr>
          <p:cNvSpPr txBox="1">
            <a:spLocks/>
          </p:cNvSpPr>
          <p:nvPr/>
        </p:nvSpPr>
        <p:spPr>
          <a:xfrm>
            <a:off x="494997" y="6076192"/>
            <a:ext cx="2981643" cy="705059"/>
          </a:xfrm>
          <a:prstGeom prst="rect">
            <a:avLst/>
          </a:prstGeom>
        </p:spPr>
        <p:txBody>
          <a:bodyPr vert="horz" lIns="91440" tIns="45720" rIns="91440" bIns="45720" rtlCol="0" anchor="t">
            <a:normAutofit fontScale="92500" lnSpcReduction="1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200" b="0" u="sng" dirty="0">
                <a:solidFill>
                  <a:schemeClr val="accent2"/>
                </a:solidFill>
                <a:hlinkClick r:id="rId3">
                  <a:extLst>
                    <a:ext uri="{A12FA001-AC4F-418D-AE19-62706E023703}">
                      <ahyp:hlinkClr xmlns:ahyp="http://schemas.microsoft.com/office/drawing/2018/hyperlinkcolor" val="tx"/>
                    </a:ext>
                  </a:extLst>
                </a:hlinkClick>
              </a:rPr>
              <a:t>GitHub Repository</a:t>
            </a:r>
            <a:endParaRPr lang="en-IN" sz="2200" b="0" u="sng" dirty="0">
              <a:solidFill>
                <a:schemeClr val="accent2"/>
              </a:solidFill>
            </a:endParaRPr>
          </a:p>
        </p:txBody>
      </p:sp>
      <p:sp>
        <p:nvSpPr>
          <p:cNvPr id="3" name="Text Placeholder 2">
            <a:extLst>
              <a:ext uri="{FF2B5EF4-FFF2-40B4-BE49-F238E27FC236}">
                <a16:creationId xmlns:a16="http://schemas.microsoft.com/office/drawing/2014/main" id="{6F0770B4-63AA-82E1-6A6A-CDA13B975D5A}"/>
              </a:ext>
            </a:extLst>
          </p:cNvPr>
          <p:cNvSpPr>
            <a:spLocks noGrp="1"/>
          </p:cNvSpPr>
          <p:nvPr>
            <p:ph type="body" sz="quarter" idx="12"/>
          </p:nvPr>
        </p:nvSpPr>
        <p:spPr>
          <a:xfrm rot="807365">
            <a:off x="2015590" y="793342"/>
            <a:ext cx="126210" cy="229581"/>
          </a:xfrm>
        </p:spPr>
        <p:txBody>
          <a:bodyPr>
            <a:normAutofit fontScale="55000" lnSpcReduction="20000"/>
          </a:bodyPr>
          <a:lstStyle/>
          <a:p>
            <a:pPr marL="0" indent="0">
              <a:buNone/>
            </a:pPr>
            <a:r>
              <a:rPr lang="en-US" dirty="0"/>
              <a:t>u</a:t>
            </a:r>
            <a:endParaRPr lang="en-IN" dirty="0"/>
          </a:p>
        </p:txBody>
      </p:sp>
      <p:pic>
        <p:nvPicPr>
          <p:cNvPr id="6" name="Picture 5">
            <a:extLst>
              <a:ext uri="{FF2B5EF4-FFF2-40B4-BE49-F238E27FC236}">
                <a16:creationId xmlns:a16="http://schemas.microsoft.com/office/drawing/2014/main" id="{1B5898AA-CDE4-F8BC-A29C-9E69AB216C37}"/>
              </a:ext>
            </a:extLst>
          </p:cNvPr>
          <p:cNvPicPr>
            <a:picLocks noChangeAspect="1"/>
          </p:cNvPicPr>
          <p:nvPr/>
        </p:nvPicPr>
        <p:blipFill>
          <a:blip r:embed="rId4"/>
          <a:srcRect r="32654"/>
          <a:stretch>
            <a:fillRect/>
          </a:stretch>
        </p:blipFill>
        <p:spPr>
          <a:xfrm>
            <a:off x="324253" y="1275371"/>
            <a:ext cx="5693221" cy="4800821"/>
          </a:xfrm>
          <a:prstGeom prst="rect">
            <a:avLst/>
          </a:prstGeom>
        </p:spPr>
      </p:pic>
      <p:pic>
        <p:nvPicPr>
          <p:cNvPr id="12" name="Picture 11">
            <a:extLst>
              <a:ext uri="{FF2B5EF4-FFF2-40B4-BE49-F238E27FC236}">
                <a16:creationId xmlns:a16="http://schemas.microsoft.com/office/drawing/2014/main" id="{DF62B1F6-CDD7-C5A4-9F56-A2BE62F7E44B}"/>
              </a:ext>
            </a:extLst>
          </p:cNvPr>
          <p:cNvPicPr>
            <a:picLocks noChangeAspect="1"/>
          </p:cNvPicPr>
          <p:nvPr/>
        </p:nvPicPr>
        <p:blipFill>
          <a:blip r:embed="rId5"/>
          <a:srcRect r="44581"/>
          <a:stretch>
            <a:fillRect/>
          </a:stretch>
        </p:blipFill>
        <p:spPr>
          <a:xfrm>
            <a:off x="6198432" y="1275371"/>
            <a:ext cx="5810688" cy="4800821"/>
          </a:xfrm>
          <a:prstGeom prst="rect">
            <a:avLst/>
          </a:prstGeom>
        </p:spPr>
      </p:pic>
    </p:spTree>
    <p:extLst>
      <p:ext uri="{BB962C8B-B14F-4D97-AF65-F5344CB8AC3E}">
        <p14:creationId xmlns:p14="http://schemas.microsoft.com/office/powerpoint/2010/main" val="153566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064918" y="-90724"/>
            <a:ext cx="14836852" cy="4679423"/>
          </a:xfrm>
          <a:prstGeom prst="rect">
            <a:avLst/>
          </a:prstGeom>
        </p:spPr>
        <p:txBody>
          <a:bodyPr anchor="ctr">
            <a:normAutofit/>
          </a:bodyPr>
          <a:lstStyle/>
          <a:p>
            <a:pPr algn="ctr"/>
            <a:r>
              <a:rPr lang="en-US" sz="6600" b="1" dirty="0">
                <a:solidFill>
                  <a:schemeClr val="accent4"/>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697723" y="3622897"/>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638852" y="2880106"/>
            <a:ext cx="5616351" cy="626127"/>
          </a:xfrm>
        </p:spPr>
        <p:txBody>
          <a:bodyPr>
            <a:normAutofit/>
          </a:bodyPr>
          <a:lstStyle/>
          <a:p>
            <a:r>
              <a:rPr lang="en-IN" b="0" dirty="0">
                <a:solidFill>
                  <a:srgbClr val="7030A0"/>
                </a:solidFill>
                <a:latin typeface="Times New Roman" panose="02020603050405020304" pitchFamily="18" charset="0"/>
                <a:cs typeface="Times New Roman" panose="02020603050405020304" pitchFamily="18" charset="0"/>
              </a:rPr>
              <a:t>Car Market Trends Analysis with Car Dekho Data</a:t>
            </a:r>
          </a:p>
        </p:txBody>
      </p:sp>
      <p:sp>
        <p:nvSpPr>
          <p:cNvPr id="2" name="TextBox 1">
            <a:extLst>
              <a:ext uri="{FF2B5EF4-FFF2-40B4-BE49-F238E27FC236}">
                <a16:creationId xmlns:a16="http://schemas.microsoft.com/office/drawing/2014/main" id="{164330D0-B1C0-DE87-F3C3-EB4BCD05556D}"/>
              </a:ext>
            </a:extLst>
          </p:cNvPr>
          <p:cNvSpPr txBox="1"/>
          <p:nvPr/>
        </p:nvSpPr>
        <p:spPr>
          <a:xfrm>
            <a:off x="3969329" y="3750608"/>
            <a:ext cx="2682466" cy="461665"/>
          </a:xfrm>
          <a:prstGeom prst="rect">
            <a:avLst/>
          </a:prstGeom>
          <a:noFill/>
        </p:spPr>
        <p:txBody>
          <a:bodyPr wrap="none" rtlCol="0">
            <a:spAutoFit/>
          </a:bodyPr>
          <a:lstStyle/>
          <a:p>
            <a:r>
              <a:rPr lang="en-US" sz="2400" dirty="0">
                <a:solidFill>
                  <a:schemeClr val="accent2"/>
                </a:solidFill>
                <a:hlinkClick r:id="rId3">
                  <a:extLst>
                    <a:ext uri="{A12FA001-AC4F-418D-AE19-62706E023703}">
                      <ahyp:hlinkClr xmlns:ahyp="http://schemas.microsoft.com/office/drawing/2018/hyperlinkcolor" val="tx"/>
                    </a:ext>
                  </a:extLst>
                </a:hlinkClick>
              </a:rPr>
              <a:t>GitHub Repository</a:t>
            </a:r>
            <a:endParaRPr lang="en-IN" sz="2400" dirty="0">
              <a:solidFill>
                <a:schemeClr val="accent2"/>
              </a:solidFill>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openxmlformats.org/package/2006/metadata/core-properties"/>
    <ds:schemaRef ds:uri="http://schemas.microsoft.com/office/2006/documentManagement/types"/>
    <ds:schemaRef ds:uri="http://purl.org/dc/dcmitype/"/>
    <ds:schemaRef ds:uri="http://www.w3.org/XML/1998/namespace"/>
    <ds:schemaRef ds:uri="http://schemas.microsoft.com/office/2006/metadata/properties"/>
    <ds:schemaRef ds:uri="http://purl.org/dc/terms/"/>
    <ds:schemaRef ds:uri="71af3243-3dd4-4a8d-8c0d-dd76da1f02a5"/>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TotalTime>726</TotalTime>
  <Words>481</Words>
  <Application>Microsoft Office PowerPoint</Application>
  <PresentationFormat>Widescreen</PresentationFormat>
  <Paragraphs>46</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Times New Roman</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Shoaib S W</cp:lastModifiedBy>
  <cp:revision>75</cp:revision>
  <dcterms:created xsi:type="dcterms:W3CDTF">2021-07-11T13:13:15Z</dcterms:created>
  <dcterms:modified xsi:type="dcterms:W3CDTF">2026-08-31T15:49:55Z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